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3840480"/>
            <a:ext cx="4572000" cy="45720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2E8B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中堅エンジニア 実践編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実装ディープダイブ：中堅実践編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0EE"/>
                </a:solidFill>
              </a:rPr>
              <a:t>〜 SVG可視化・CSV状態機械・テストハーネスを“中身から”作る 〜</a:t>
            </a:r>
            <a:endParaRPr lang="en-US" sz="2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60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0EE"/>
                </a:solidFill>
              </a:rPr>
              <a:t>講師：Yukiko（うさうさ先生 🐰）｜ 実践編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8B6B"/>
                </a:solidFill>
              </a:rPr>
              <a:t>題材：依存ゼロで“ちゃんと動く”を支える内部実装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内製SVG折れ線①：座標変換と1点問題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C1B2E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W=520,H=204,L=36,R=36,T=30,B=32;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iw=W-L-R, ih=H-T-B, n=months.length;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maxV=Math.max(0.25, ...months.map(m=&gt;Math.max(m.act,m.plan)), goal);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X = i =&gt; n===1 ? L+iw/2 : L+iw*(i/(n-1)); // 1点なら中央(0除算回避)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Y = v =&gt; T + ih*(1 - v/maxV);             // 上が大（画面座標は反転）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実績の点列を 'x,y' 文字列へ（polyline用）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aPts = months.map((m,i)=&gt;`${X(i).toFixed(1)},${Y(m.act).toFixed(1)}`);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93"/>
                </a:solidFill>
              </a:rPr>
              <a:t>スケール変換は2関数に集約。maxVは0.25下限＋目標値も考慮。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内製SVG折れ線②：1点は線が引けない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C1B2E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短い水準線（1点用）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seg=(y,stroke,extra='')=&gt;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`&lt;line x1=${X(0)-34} y1=${y} x2=${X(0)+34} y2=${y}`+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` stroke=${stroke} stroke-width=2.6 ${extra}/&gt;`;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actLine = n===1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seg(Y(m0.act), cAct)                                  // 1点→水準線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`&lt;polyline points='${aPts.join(' ')}' stroke='${cAct}'.../&gt;`; // 2点以上→線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予定は破線：stroke-dasharray='5 4'（実績＝実線）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93"/>
                </a:solidFill>
              </a:rPr>
              <a:t>“線が出ない”はバグではなく仕様。1点でも見える工夫。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自前CSVパーサ：状態機械で読む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C1B2E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parseCSV(text){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 = text.replace(/\r\n/g,'\n').replace(/\r/g,'\n'); // 改行正規化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rows=[]; let field='', row=[], q=false;            // q=クォート中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for(let i=0;i&lt;text.length;i++){ const c=text[i];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if(q){ if(c==='"'){ if(text[i+1]==='"'){field+='"';i++;} else q=false; 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else field+=c; }                                // "" は1つの"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{ if(c==='"') q=true; else if(c===','){row.push(field);field='';}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else if(c==='\n'){row.push(field);rows.push(row);row=[];field='';}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else field+=c; } 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if(field||row.length){ row.push(field); rows.push(row); } return rows; }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93"/>
                </a:solidFill>
              </a:rPr>
              <a:t>split(',')では壊れる。引用符・カンマ・改行入りセルに対応。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jsdomハーネス：観測装置を作る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972800" cy="4206240"/>
          </a:xfrm>
          <a:prstGeom prst="rect">
            <a:avLst/>
          </a:prstGeom>
          <a:solidFill>
            <a:srgbClr val="0C1B2E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boot(opts){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vc=new VirtualConsole(); let perr=null; vc.on('jsdomError',e=&gt;perr=e);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dom=new JSDOM(html,{runScripts:'dangerously',virtualConsole:vc,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beforeParse(w){ w.print=()=&gt;{}; w.alert=m=&gt;w.__a=m;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w.HTMLAnchorElement.prototype.click=()=&gt;{w.__name=...};  // DL名を捕捉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w.URL.createObjectURL=b=&gt;(w.__text=b.__text,'blob:x');   // Blob中身を捕捉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w.Blob=class{constructor(p,o){this.__text=(p||[]).join('');}}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w.storage=memoryKVS(); if(opts.noFetch) delete w.fetch; }});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BFE0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w:dom.window, getErr:()=&gt;perr }; }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C93"/>
                </a:solidFill>
              </a:rPr>
              <a:t>スタブで副作用を止め、出力を“観測”できる形に変える。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全観点を1つの土台で回す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109728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単体/WB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931920" y="14630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命名・丸め・各ビルダーの内部仕様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377440"/>
            <a:ext cx="109728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結合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931920" y="23774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UI連動・永続化の往復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291840"/>
            <a:ext cx="109728" cy="749808"/>
          </a:xfrm>
          <a:prstGeom prst="rect">
            <a:avLst/>
          </a:prstGeom>
          <a:solidFill>
            <a:srgbClr val="2E8B6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918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総合/E2E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31920" y="32918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入力→生成→4形式DL→印刷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20624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4206240"/>
            <a:ext cx="109728" cy="749808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062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ブラックボックス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931920" y="42062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空/巨大/XSS/クォート/401フォールバック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120640"/>
            <a:ext cx="10972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5E2EC"/>
            </a:solidFill>
            <a:prstDash val="solid"/>
          </a:ln>
          <a:effectLst>
            <a:outerShdw sx="100000" sy="100000" kx="0" ky="0" algn="bl" rotWithShape="0" blurRad="88900" dist="38100" dir="8100000">
              <a:srgbClr val="14233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5120640"/>
            <a:ext cx="109728" cy="74980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2064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33A"/>
                </a:solidFill>
              </a:rPr>
              <a:t>モンキー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931920" y="51206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ランダム1500操作で例外0・NaN0・復帰可能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5A82"/>
                </a:solidFill>
              </a:rPr>
              <a:t>モンキーの価値＝想定外の操作順序を炙り出す。未生成状態での出力操作を重点的に。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55448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実践編のまとめ：原理から作る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663440"/>
                <a:gridCol w="3657600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領域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実装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ねらい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可視化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内製SVG（座標変換＋1点分岐）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依存ゼロ・レスポンシブ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CSV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状態機械パーサ＋クォート書き出し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往復を保証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テスト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jsdom観測装置＋全観点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UIなしでロジック保証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C44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D7E5EE"/>
                          </a:solidFill>
                        </a:rPr>
                        <a:t>判断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7FE0C0"/>
                          </a:solidFill>
                        </a:rPr>
                        <a:t>ライブラリの内側を説明できる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D7E5EE"/>
                          </a:solidFill>
                        </a:rPr>
                        <a:t>ブラックボックス化を避ける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42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33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FE0C0"/>
                </a:solidFill>
              </a:rPr>
              <a:t>『ライブラリの内側を説明できる』が中堅の武器になる 🐰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中堅実践編</dc:title>
  <dc:subject>PptxGenJS Presentation</dc:subject>
  <dc:creator>Yukiko</dc:creator>
  <cp:lastModifiedBy>Yukiko</cp:lastModifiedBy>
  <cp:revision>1</cp:revision>
  <dcterms:created xsi:type="dcterms:W3CDTF">2026-05-30T06:58:33Z</dcterms:created>
  <dcterms:modified xsi:type="dcterms:W3CDTF">2026-05-30T06:58:33Z</dcterms:modified>
</cp:coreProperties>
</file>