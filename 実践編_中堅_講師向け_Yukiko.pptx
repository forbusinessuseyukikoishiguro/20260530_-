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【導入 3分】中堅実践編は『ライブラリに頼らず、原理から実装する』回。題材は②バハイ・ウサギの月次SVGチャートと自前CSVパーサ、そして全観点を回すjsdomハーネス。受講生は実務でライブラリの内側を説明できることを目標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【10分】チャートを“描く”前に座標系の話。SVGはY下向き→1-比率で反転。データ1点だと i/(n-1) が 0/0 になる→中央固定で回避（実際にライブラリでも起きる罠）。maxVに0.25下限を入れる理由＝全部0でも潰れない。ホワイトボードで座標を1点描いて見せると速い。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10分】要点：『データが1点のときに線が消える』はチャート実装で最頻のクレーム。仕様として1点は水準線にする判断を見せる。実線/破線で実績/予定を区別＝色覚に頼らない配慮。重ね順（塗り→軸→目標→予定→実績→点→ラベル）も口頭で。受講生に『3点で描いてから1点に減らす』実験をさ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【12分】『なぜ split(',') ではダメか』を最初に問う。セル内カンマ・改行・エスケープされた引用符で破綻するのを実演。状態機械（クォート中フラグ q）の遷移を図で。書き出し側 q() と対で実装する＝往復が保証される、を強調。境界：末尾改行なし、空フィールド、CRLF。テストデータを配って各自パースさせる。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12分】テストは『観測装置の設計』が9割。click/print/alertをスタブし、Blob/DL名を捕捉する仕組みを解説。fetchを消すとフォールバック経路を強制テストできる。VirtualConsoleでjsdomErrorを拾う＝『静かに失敗』を検出。ここを丁寧に作ると単体〜モンキーまで同じ土台で回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【8分】観点ごとの狙いを1行で。特にモンキー：未初期化での出力・型がぶれる入力を重点。『製品バグ vs テストハーネスのバグ』の切り分け（最小再現で観測装置を先に疑う）を実体験談として。今回の3ツールは①90/②97/③43全PASS。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【3分】まとめ表で持ち帰りを固定。次回予告：OOXML後処理でトレンドライン注入、BFFでAPIキーを隠す構成、など更に上の実践。質問対応。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937760" cy="493776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384048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2E8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中堅エンジニア 実践編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実装ディープダイブ：中堅実践編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68680" y="3108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E0EE"/>
                </a:solidFill>
              </a:rPr>
              <a:t>〜 SVG可視化・CSV状態機械・テストハーネスを“中身から”作る 〜</a:t>
            </a:r>
            <a:endParaRPr lang="en-US" sz="2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1605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4160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E0EE"/>
                </a:solidFill>
              </a:rPr>
              <a:t>講師：Yukiko（うさうさ先生 🐰）｜ 実践編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4754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E8B6B"/>
                </a:solidFill>
              </a:rPr>
              <a:t>題材：依存ゼロで“ちゃんと動く”を支える内部実装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内製SVG折れ線①：座標変換と1点問題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972800" cy="4206240"/>
          </a:xfrm>
          <a:prstGeom prst="rect">
            <a:avLst/>
          </a:prstGeom>
          <a:solidFill>
            <a:srgbClr val="0C1B2E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88900" dist="38100" dir="8100000">
              <a:srgbClr val="14233A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72768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W=520,H=204,L=36,R=36,T=30,B=32;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iw=W-L-R, ih=H-T-B, n=months.length;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maxV=Math.max(0.25, ...months.map(m=&gt;Math.max(m.act,m.plan)), goal);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X = i =&gt; n===1 ? L+iw/2 : L+iw*(i/(n-1)); // 1点なら中央(0除算回避)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Y = v =&gt; T + ih*(1 - v/maxV);             // 上が大（画面座標は反転）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実績の点列を 'x,y' 文字列へ（polyline用）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aPts = months.map((m,i)=&gt;`${X(i).toFixed(1)},${Y(m.act).toFixed(1)}`);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C93"/>
                </a:solidFill>
              </a:rPr>
              <a:t>スケール変換は2関数に集約。maxVは0.25下限＋目標値も考慮。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内製SVG折れ線②：1点は線が引けない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972800" cy="4206240"/>
          </a:xfrm>
          <a:prstGeom prst="rect">
            <a:avLst/>
          </a:prstGeom>
          <a:solidFill>
            <a:srgbClr val="0C1B2E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88900" dist="38100" dir="8100000">
              <a:srgbClr val="14233A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72768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短い水準線（1点用）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seg=(y,stroke,extra='')=&gt;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`&lt;line x1=${X(0)-34} y1=${y} x2=${X(0)+34} y2=${y}`+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` stroke=${stroke} stroke-width=2.6 ${extra}/&gt;`;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actLine = n===1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? seg(Y(m0.act), cAct)                                  // 1点→水準線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`&lt;polyline points='${aPts.join(' ')}' stroke='${cAct}'.../&gt;`; // 2点以上→線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予定は破線：stroke-dasharray='5 4'（実績＝実線）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C93"/>
                </a:solidFill>
              </a:rPr>
              <a:t>“線が出ない”はバグではなく仕様。1点でも見える工夫。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自前CSVパーサ：状態機械で読む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972800" cy="4206240"/>
          </a:xfrm>
          <a:prstGeom prst="rect">
            <a:avLst/>
          </a:prstGeom>
          <a:solidFill>
            <a:srgbClr val="0C1B2E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88900" dist="38100" dir="8100000">
              <a:srgbClr val="14233A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72768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parseCSV(text){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 = text.replace(/\r\n/g,'\n').replace(/\r/g,'\n'); // 改行正規化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rows=[]; let field='', row=[], q=false;            // q=クォート中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for(let i=0;i&lt;text.length;i++){ const c=text[i];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if(q){ if(c==='"'){ if(text[i+1]==='"'){field+='"';i++;} else q=false; }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else field+=c; }                                // "" は1つの"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{ if(c==='"') q=true; else if(c===','){row.push(field);field='';}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else if(c==='\n'){row.push(field);rows.push(row);row=[];field='';}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else field+=c; } }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if(field||row.length){ row.push(field); rows.push(row); } return rows; }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C93"/>
                </a:solidFill>
              </a:rPr>
              <a:t>split(',')では壊れる。引用符・カンマ・改行入りセルに対応。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jsdomハーネス：観測装置を作る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972800" cy="4206240"/>
          </a:xfrm>
          <a:prstGeom prst="rect">
            <a:avLst/>
          </a:prstGeom>
          <a:solidFill>
            <a:srgbClr val="0C1B2E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88900" dist="38100" dir="8100000">
              <a:srgbClr val="14233A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72768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boot(opts){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vc=new VirtualConsole(); let perr=null; vc.on('jsdomError',e=&gt;perr=e);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dom=new JSDOM(html,{runScripts:'dangerously',virtualConsole:vc,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beforeParse(w){ w.print=()=&gt;{}; w.alert=m=&gt;w.__a=m;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w.HTMLAnchorElement.prototype.click=()=&gt;{w.__name=...};  // DL名を捕捉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w.URL.createObjectURL=b=&gt;(w.__text=b.__text,'blob:x');   // Blob中身を捕捉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w.Blob=class{constructor(p,o){this.__text=(p||[]).join('');}}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w.storage=memoryKVS(); if(opts.noFetch) delete w.fetch; }});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 w:dom.window, getErr:()=&gt;perr }; }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C93"/>
                </a:solidFill>
              </a:rPr>
              <a:t>スタブで副作用を止め、出力を“観測”できる形に変える。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全観点を1つの土台で回す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972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88900" dist="38100" dir="8100000">
              <a:srgbClr val="14233A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463040"/>
            <a:ext cx="109728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33A"/>
                </a:solidFill>
              </a:rPr>
              <a:t>単体/WB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931920" y="1463040"/>
            <a:ext cx="7406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C93"/>
                </a:solidFill>
              </a:rPr>
              <a:t>命名・丸め・各ビルダーの内部仕様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10972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88900" dist="38100" dir="8100000">
              <a:srgbClr val="14233A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377440"/>
            <a:ext cx="109728" cy="7498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37744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33A"/>
                </a:solidFill>
              </a:rPr>
              <a:t>結合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931920" y="2377440"/>
            <a:ext cx="7406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C93"/>
                </a:solidFill>
              </a:rPr>
              <a:t>UI連動・永続化の往復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10972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88900" dist="38100" dir="8100000">
              <a:srgbClr val="14233A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3291840"/>
            <a:ext cx="109728" cy="749808"/>
          </a:xfrm>
          <a:prstGeom prst="rect">
            <a:avLst/>
          </a:prstGeom>
          <a:solidFill>
            <a:srgbClr val="2E8B6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29184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33A"/>
                </a:solidFill>
              </a:rPr>
              <a:t>総合/E2E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931920" y="3291840"/>
            <a:ext cx="7406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C93"/>
                </a:solidFill>
              </a:rPr>
              <a:t>入力→生成→4形式DL→印刷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4206240"/>
            <a:ext cx="10972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88900" dist="38100" dir="8100000">
              <a:srgbClr val="14233A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4206240"/>
            <a:ext cx="109728" cy="749808"/>
          </a:xfrm>
          <a:prstGeom prst="rect">
            <a:avLst/>
          </a:prstGeom>
          <a:solidFill>
            <a:srgbClr val="E0A80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20624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33A"/>
                </a:solidFill>
              </a:rPr>
              <a:t>ブラックボックス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931920" y="4206240"/>
            <a:ext cx="7406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C93"/>
                </a:solidFill>
              </a:rPr>
              <a:t>空/巨大/XSS/クォート/401フォールバック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5120640"/>
            <a:ext cx="10972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88900" dist="38100" dir="8100000">
              <a:srgbClr val="14233A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5120640"/>
            <a:ext cx="109728" cy="74980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12064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33A"/>
                </a:solidFill>
              </a:rPr>
              <a:t>モンキー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931920" y="5120640"/>
            <a:ext cx="7406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C93"/>
                </a:solidFill>
              </a:rPr>
              <a:t>ランダム1500操作で例外0・NaN0・復帰可能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5A82"/>
                </a:solidFill>
              </a:rPr>
              <a:t>モンキーの価値＝想定外の操作順序を炙り出す。未生成状態での出力操作を重点的に。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55448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実践編のまとめ：原理から作る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54480"/>
          <a:ext cx="10515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663440"/>
                <a:gridCol w="3657600"/>
              </a:tblGrid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領域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実装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ねらい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7E5EE"/>
                          </a:solidFill>
                        </a:rPr>
                        <a:t>可視化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7FE0C0"/>
                          </a:solidFill>
                        </a:rPr>
                        <a:t>内製SVG（座標変換＋1点分岐）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D7E5EE"/>
                          </a:solidFill>
                        </a:rPr>
                        <a:t>依存ゼロ・レスポンシブ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4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7E5EE"/>
                          </a:solidFill>
                        </a:rPr>
                        <a:t>CSV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7FE0C0"/>
                          </a:solidFill>
                        </a:rPr>
                        <a:t>状態機械パーサ＋クォート書き出し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D7E5EE"/>
                          </a:solidFill>
                        </a:rPr>
                        <a:t>往復を保証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7E5EE"/>
                          </a:solidFill>
                        </a:rPr>
                        <a:t>テスト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7FE0C0"/>
                          </a:solidFill>
                        </a:rPr>
                        <a:t>jsdom観測装置＋全観点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D7E5EE"/>
                          </a:solidFill>
                        </a:rPr>
                        <a:t>UIなしでロジック保証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4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7E5EE"/>
                          </a:solidFill>
                        </a:rPr>
                        <a:t>判断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7FE0C0"/>
                          </a:solidFill>
                        </a:rPr>
                        <a:t>ライブラリの内側を説明できる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D7E5EE"/>
                          </a:solidFill>
                        </a:rPr>
                        <a:t>ブラックボックス化を避ける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FE0C0"/>
                </a:solidFill>
              </a:rPr>
              <a:t>『ライブラリの内側を説明できる』が中堅の武器になる 🐰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中堅実践編</dc:title>
  <dc:subject>PptxGenJS Presentation</dc:subject>
  <dc:creator>Yukiko</dc:creator>
  <cp:lastModifiedBy>Yukiko</cp:lastModifiedBy>
  <cp:revision>1</cp:revision>
  <dcterms:created xsi:type="dcterms:W3CDTF">2026-05-30T06:58:33Z</dcterms:created>
  <dcterms:modified xsi:type="dcterms:W3CDTF">2026-05-30T06:58:33Z</dcterms:modified>
</cp:coreProperties>
</file>